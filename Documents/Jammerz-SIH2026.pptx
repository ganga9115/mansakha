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000000"/>
                </a:solidFill>
                <a:latin typeface="Arial"/>
              </a:rPr>
              <a:t>Problem Statement ID - SIH26094</a:t>
            </a:r>
            <a:endParaRPr lang="en-US" dirty="0"/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000000"/>
                </a:solidFill>
                <a:latin typeface="Arial"/>
              </a:rPr>
              <a:t>Problem Statement Title - AI-Powered Dynamic Mental Health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000000"/>
                </a:solidFill>
                <a:latin typeface="Arial"/>
              </a:rPr>
              <a:t>Monitoring and Distress Prediction System for Victims of Atrocities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000000"/>
                </a:solidFill>
                <a:latin typeface="Arial"/>
              </a:rPr>
              <a:t>Theme - MedTech / BioTech / HealthTech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000000"/>
                </a:solidFill>
                <a:latin typeface="Arial"/>
              </a:rPr>
              <a:t>PS Category - Software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000000"/>
                </a:solidFill>
                <a:latin typeface="Arial"/>
              </a:rPr>
              <a:t>Team ID - &lt;fill in your registered Team ID&gt;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000000"/>
                </a:solidFill>
                <a:latin typeface="Arial"/>
              </a:rPr>
              <a:t>Team Name - JAMMERZ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45920" y="138036"/>
            <a:ext cx="7863840" cy="1143000"/>
          </a:xfrm>
        </p:spPr>
        <p:txBody>
          <a:bodyPr wrap="square"/>
          <a:lstStyle/>
          <a:p>
            <a:pPr algn="ctr" eaLnBrk="1" hangingPunct="1"/>
            <a:r>
              <a:rPr sz="3000" b="1" dirty="0">
                <a:latin typeface="Times New Roman"/>
              </a:rPr>
              <a:t>AI-Powered Mental Health Monitoring for Atrocity Victims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914400" y="2064921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300" b="1" dirty="0"/>
              <a:t>JAMMERZ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502920" y="2146666"/>
            <a:ext cx="5349240" cy="2568130"/>
          </a:xfrm>
          <a:prstGeom prst="rect">
            <a:avLst/>
          </a:prstGeom>
          <a:noFill/>
        </p:spPr>
        <p:txBody>
          <a:bodyPr wrap="square" lIns="101600" tIns="76200" rIns="101600" bIns="50800">
            <a:spAutoFit/>
          </a:bodyPr>
          <a:lstStyle/>
          <a:p>
            <a:pPr algn="l"/>
            <a:r>
              <a:rPr sz="1450" b="1" dirty="0">
                <a:solidFill>
                  <a:srgbClr val="5B2A80"/>
                </a:solidFill>
                <a:latin typeface="Arial"/>
              </a:rPr>
              <a:t>Proposed Solution</a:t>
            </a:r>
          </a:p>
          <a:p>
            <a:pPr lvl="1" algn="l">
              <a:spcBef>
                <a:spcPts val="500"/>
              </a:spcBef>
            </a:pPr>
            <a:r>
              <a:rPr sz="1150" b="0" dirty="0">
                <a:solidFill>
                  <a:srgbClr val="241A2E"/>
                </a:solidFill>
                <a:latin typeface="Arial"/>
              </a:rPr>
              <a:t>AI system that </a:t>
            </a:r>
            <a:r>
              <a:rPr sz="1150" b="1" dirty="0">
                <a:solidFill>
                  <a:srgbClr val="241A2E"/>
                </a:solidFill>
                <a:latin typeface="Arial"/>
              </a:rPr>
              <a:t>continuously monitors</a:t>
            </a:r>
            <a:r>
              <a:rPr sz="1150" b="0" dirty="0">
                <a:solidFill>
                  <a:srgbClr val="241A2E"/>
                </a:solidFill>
                <a:latin typeface="Arial"/>
              </a:rPr>
              <a:t> victims registered via </a:t>
            </a:r>
            <a:r>
              <a:rPr sz="1150" b="1" dirty="0">
                <a:solidFill>
                  <a:srgbClr val="241A2E"/>
                </a:solidFill>
                <a:latin typeface="Arial"/>
              </a:rPr>
              <a:t>NHAA 14566 / Integrated Portal</a:t>
            </a:r>
          </a:p>
          <a:p>
            <a:pPr lvl="1" algn="l">
              <a:spcBef>
                <a:spcPts val="500"/>
              </a:spcBef>
            </a:pPr>
            <a:r>
              <a:rPr sz="1150" b="1" dirty="0">
                <a:solidFill>
                  <a:srgbClr val="241A2E"/>
                </a:solidFill>
                <a:latin typeface="Arial"/>
              </a:rPr>
              <a:t>Regular well-being checks</a:t>
            </a:r>
            <a:r>
              <a:rPr sz="1150" b="0" dirty="0">
                <a:solidFill>
                  <a:srgbClr val="241A2E"/>
                </a:solidFill>
                <a:latin typeface="Arial"/>
              </a:rPr>
              <a:t> - chatbot, IVRS, SMS, mobile app</a:t>
            </a:r>
          </a:p>
          <a:p>
            <a:pPr lvl="1" algn="l">
              <a:spcBef>
                <a:spcPts val="500"/>
              </a:spcBef>
            </a:pPr>
            <a:r>
              <a:rPr sz="1150" b="1" dirty="0">
                <a:solidFill>
                  <a:srgbClr val="241A2E"/>
                </a:solidFill>
                <a:latin typeface="Arial"/>
              </a:rPr>
              <a:t>AI analysis</a:t>
            </a:r>
            <a:r>
              <a:rPr sz="1150" b="0" dirty="0">
                <a:solidFill>
                  <a:srgbClr val="241A2E"/>
                </a:solidFill>
                <a:latin typeface="Arial"/>
              </a:rPr>
              <a:t> - NLP, sentiment, emotion, voice stress, </a:t>
            </a:r>
            <a:r>
              <a:rPr sz="1150" b="0" dirty="0" err="1">
                <a:solidFill>
                  <a:srgbClr val="241A2E"/>
                </a:solidFill>
                <a:latin typeface="Arial"/>
              </a:rPr>
              <a:t>behaviour</a:t>
            </a:r>
            <a:r>
              <a:rPr sz="1150" b="0" dirty="0">
                <a:solidFill>
                  <a:srgbClr val="241A2E"/>
                </a:solidFill>
                <a:latin typeface="Arial"/>
              </a:rPr>
              <a:t>/engagement</a:t>
            </a:r>
          </a:p>
          <a:p>
            <a:pPr lvl="1" algn="l">
              <a:spcBef>
                <a:spcPts val="500"/>
              </a:spcBef>
            </a:pPr>
            <a:r>
              <a:rPr sz="1150" b="1" dirty="0">
                <a:solidFill>
                  <a:srgbClr val="241A2E"/>
                </a:solidFill>
                <a:latin typeface="Arial"/>
              </a:rPr>
              <a:t>Dynamic Distress Score</a:t>
            </a:r>
            <a:r>
              <a:rPr sz="1150" b="0" dirty="0">
                <a:solidFill>
                  <a:srgbClr val="241A2E"/>
                </a:solidFill>
                <a:latin typeface="Arial"/>
              </a:rPr>
              <a:t> + trend + prediction - is distress increasing?</a:t>
            </a:r>
          </a:p>
          <a:p>
            <a:pPr lvl="1" algn="l">
              <a:spcBef>
                <a:spcPts val="500"/>
              </a:spcBef>
            </a:pPr>
            <a:r>
              <a:rPr sz="1150" b="1" dirty="0">
                <a:solidFill>
                  <a:srgbClr val="241A2E"/>
                </a:solidFill>
                <a:latin typeface="Arial"/>
              </a:rPr>
              <a:t>Real-time alerts</a:t>
            </a:r>
            <a:r>
              <a:rPr sz="1150" b="0" dirty="0">
                <a:solidFill>
                  <a:srgbClr val="241A2E"/>
                </a:solidFill>
                <a:latin typeface="Arial"/>
              </a:rPr>
              <a:t> to counsellors/officials when risk is high</a:t>
            </a:r>
          </a:p>
          <a:p>
            <a:pPr lvl="1" algn="l">
              <a:spcBef>
                <a:spcPts val="500"/>
              </a:spcBef>
            </a:pPr>
            <a:r>
              <a:rPr sz="1150" b="1" dirty="0">
                <a:solidFill>
                  <a:srgbClr val="241A2E"/>
                </a:solidFill>
                <a:latin typeface="Arial"/>
              </a:rPr>
              <a:t>Recommended interventions</a:t>
            </a:r>
            <a:r>
              <a:rPr sz="1150" b="0" dirty="0">
                <a:solidFill>
                  <a:srgbClr val="241A2E"/>
                </a:solidFill>
                <a:latin typeface="Arial"/>
              </a:rPr>
              <a:t> - counselling, medical, financial aid</a:t>
            </a:r>
          </a:p>
          <a:p>
            <a:pPr lvl="1" algn="l">
              <a:spcBef>
                <a:spcPts val="500"/>
              </a:spcBef>
            </a:pPr>
            <a:r>
              <a:rPr sz="1150" b="1" dirty="0">
                <a:solidFill>
                  <a:srgbClr val="241A2E"/>
                </a:solidFill>
                <a:latin typeface="Arial"/>
              </a:rPr>
              <a:t>District / State / National dashboards</a:t>
            </a:r>
            <a:r>
              <a:rPr sz="1150" b="0" dirty="0">
                <a:solidFill>
                  <a:srgbClr val="241A2E"/>
                </a:solidFill>
                <a:latin typeface="Arial"/>
              </a:rPr>
              <a:t>, explainable AI, privacy &amp; security</a:t>
            </a:r>
          </a:p>
        </p:txBody>
      </p:sp>
      <p:sp>
        <p:nvSpPr>
          <p:cNvPr id="15364" name="Rectangle 15363"/>
          <p:cNvSpPr/>
          <p:nvPr/>
        </p:nvSpPr>
        <p:spPr>
          <a:xfrm>
            <a:off x="429768" y="2091802"/>
            <a:ext cx="5495544" cy="2677858"/>
          </a:xfrm>
          <a:prstGeom prst="rect">
            <a:avLst/>
          </a:prstGeom>
          <a:noFill/>
          <a:ln w="12700">
            <a:solidFill>
              <a:srgbClr val="8A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TextBox 15364"/>
          <p:cNvSpPr txBox="1"/>
          <p:nvPr/>
        </p:nvSpPr>
        <p:spPr>
          <a:xfrm>
            <a:off x="6172200" y="2146666"/>
            <a:ext cx="5349240" cy="2596324"/>
          </a:xfrm>
          <a:prstGeom prst="rect">
            <a:avLst/>
          </a:prstGeom>
          <a:noFill/>
        </p:spPr>
        <p:txBody>
          <a:bodyPr wrap="square" lIns="101600" tIns="76200" rIns="101600" bIns="50800">
            <a:spAutoFit/>
          </a:bodyPr>
          <a:lstStyle/>
          <a:p>
            <a:pPr algn="l"/>
            <a:r>
              <a:rPr sz="1450" b="1">
                <a:solidFill>
                  <a:srgbClr val="5B2A80"/>
                </a:solidFill>
                <a:latin typeface="Arial"/>
              </a:rPr>
              <a:t>5 Core Modules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Victim Module</a:t>
            </a:r>
            <a:r>
              <a:rPr sz="1150" b="0">
                <a:solidFill>
                  <a:srgbClr val="241A2E"/>
                </a:solidFill>
                <a:latin typeface="Arial"/>
              </a:rPr>
              <a:t> - login, dashboard, well-being check-in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Mental Health Monitoring Module</a:t>
            </a:r>
            <a:r>
              <a:rPr sz="1150" b="0">
                <a:solidFill>
                  <a:srgbClr val="241A2E"/>
                </a:solidFill>
                <a:latin typeface="Arial"/>
              </a:rPr>
              <a:t> - questionnaire, multilingual chatbot/IVRS/SMS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AI Risk Engine</a:t>
            </a:r>
            <a:r>
              <a:rPr sz="1150" b="0">
                <a:solidFill>
                  <a:srgbClr val="241A2E"/>
                </a:solidFill>
                <a:latin typeface="Arial"/>
              </a:rPr>
              <a:t> - sentiment/voice-stress analysis, distress score, prediction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Official/Counsellor Module</a:t>
            </a:r>
            <a:r>
              <a:rPr sz="1150" b="0">
                <a:solidFill>
                  <a:srgbClr val="241A2E"/>
                </a:solidFill>
                <a:latin typeface="Arial"/>
              </a:rPr>
              <a:t> - risk dashboard, case details, intervention tracking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Administration &amp; Security Module</a:t>
            </a:r>
            <a:r>
              <a:rPr sz="1150" b="0">
                <a:solidFill>
                  <a:srgbClr val="241A2E"/>
                </a:solidFill>
                <a:latin typeface="Arial"/>
              </a:rPr>
              <a:t> - district/state/national dashboards, RBAC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6099048" y="2091802"/>
            <a:ext cx="5495544" cy="2706052"/>
          </a:xfrm>
          <a:prstGeom prst="rect">
            <a:avLst/>
          </a:prstGeom>
          <a:noFill/>
          <a:ln w="12700">
            <a:solidFill>
              <a:srgbClr val="8A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-914400" y="2533653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300" b="1" dirty="0"/>
              <a:t>JAMMERZ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02920" y="1822271"/>
            <a:ext cx="5669280" cy="1835276"/>
          </a:xfrm>
          <a:prstGeom prst="rect">
            <a:avLst/>
          </a:prstGeom>
          <a:noFill/>
        </p:spPr>
        <p:txBody>
          <a:bodyPr wrap="square" lIns="101600" tIns="76200" rIns="101600" bIns="50800">
            <a:spAutoFit/>
          </a:bodyPr>
          <a:lstStyle/>
          <a:p>
            <a:pPr algn="l"/>
            <a:r>
              <a:rPr sz="1500" b="1">
                <a:solidFill>
                  <a:srgbClr val="5B2A80"/>
                </a:solidFill>
                <a:latin typeface="Arial"/>
              </a:rPr>
              <a:t>Tech Stack</a:t>
            </a:r>
          </a:p>
          <a:p>
            <a:pPr lvl="1" algn="l">
              <a:spcBef>
                <a:spcPts val="500"/>
              </a:spcBef>
            </a:pPr>
            <a:r>
              <a:rPr sz="1250" b="1">
                <a:solidFill>
                  <a:srgbClr val="241A2E"/>
                </a:solidFill>
                <a:latin typeface="Arial"/>
              </a:rPr>
              <a:t>Client:</a:t>
            </a:r>
            <a:r>
              <a:rPr sz="1250" b="0">
                <a:solidFill>
                  <a:srgbClr val="241A2E"/>
                </a:solidFill>
                <a:latin typeface="Arial"/>
              </a:rPr>
              <a:t> React Native - one codebase, Mobile + Web</a:t>
            </a:r>
          </a:p>
          <a:p>
            <a:pPr lvl="1" algn="l">
              <a:spcBef>
                <a:spcPts val="500"/>
              </a:spcBef>
            </a:pPr>
            <a:r>
              <a:rPr sz="1250" b="1">
                <a:solidFill>
                  <a:srgbClr val="241A2E"/>
                </a:solidFill>
                <a:latin typeface="Arial"/>
              </a:rPr>
              <a:t>Backend:</a:t>
            </a:r>
            <a:r>
              <a:rPr sz="1250" b="0">
                <a:solidFill>
                  <a:srgbClr val="241A2E"/>
                </a:solidFill>
                <a:latin typeface="Arial"/>
              </a:rPr>
              <a:t> Node.js + Express</a:t>
            </a:r>
          </a:p>
          <a:p>
            <a:pPr lvl="1" algn="l">
              <a:spcBef>
                <a:spcPts val="500"/>
              </a:spcBef>
            </a:pPr>
            <a:r>
              <a:rPr sz="1250" b="1">
                <a:solidFill>
                  <a:srgbClr val="241A2E"/>
                </a:solidFill>
                <a:latin typeface="Arial"/>
              </a:rPr>
              <a:t>Platform:</a:t>
            </a:r>
            <a:r>
              <a:rPr sz="1250" b="0">
                <a:solidFill>
                  <a:srgbClr val="241A2E"/>
                </a:solidFill>
                <a:latin typeface="Arial"/>
              </a:rPr>
              <a:t> Supabase - Postgres, Auth, Storage, Realtime</a:t>
            </a:r>
          </a:p>
          <a:p>
            <a:pPr lvl="1" algn="l">
              <a:spcBef>
                <a:spcPts val="500"/>
              </a:spcBef>
            </a:pPr>
            <a:r>
              <a:rPr sz="1250" b="1">
                <a:solidFill>
                  <a:srgbClr val="241A2E"/>
                </a:solidFill>
                <a:latin typeface="Arial"/>
              </a:rPr>
              <a:t>AI:</a:t>
            </a:r>
            <a:r>
              <a:rPr sz="1250" b="0">
                <a:solidFill>
                  <a:srgbClr val="241A2E"/>
                </a:solidFill>
                <a:latin typeface="Arial"/>
              </a:rPr>
              <a:t> Gemini (chat/sentiment) + Google Speech/Bhashini (ASR/TTS) + SpeechBrain (voice stress)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429768" y="1767407"/>
            <a:ext cx="5815584" cy="1945005"/>
          </a:xfrm>
          <a:prstGeom prst="rect">
            <a:avLst/>
          </a:prstGeom>
          <a:noFill/>
          <a:ln w="12700">
            <a:solidFill>
              <a:srgbClr val="8A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4336870"/>
            <a:ext cx="5669280" cy="959739"/>
          </a:xfrm>
          <a:prstGeom prst="rect">
            <a:avLst/>
          </a:prstGeom>
          <a:noFill/>
        </p:spPr>
        <p:txBody>
          <a:bodyPr wrap="square" lIns="101600" tIns="76200" rIns="101600" bIns="50800">
            <a:spAutoFit/>
          </a:bodyPr>
          <a:lstStyle/>
          <a:p>
            <a:pPr algn="l"/>
            <a:r>
              <a:rPr sz="1500" b="1">
                <a:solidFill>
                  <a:srgbClr val="5B2A80"/>
                </a:solidFill>
                <a:latin typeface="Arial"/>
              </a:rPr>
              <a:t>Backend AI Features</a:t>
            </a:r>
          </a:p>
          <a:p>
            <a:pPr lvl="1" algn="l">
              <a:spcBef>
                <a:spcPts val="500"/>
              </a:spcBef>
            </a:pPr>
            <a:r>
              <a:rPr sz="1250" b="0">
                <a:solidFill>
                  <a:srgbClr val="241A2E"/>
                </a:solidFill>
                <a:latin typeface="Arial"/>
              </a:rPr>
              <a:t>AI response analysis → </a:t>
            </a:r>
            <a:r>
              <a:rPr sz="1250" b="1">
                <a:solidFill>
                  <a:srgbClr val="241A2E"/>
                </a:solidFill>
                <a:latin typeface="Arial"/>
              </a:rPr>
              <a:t>Distress Score Engine</a:t>
            </a:r>
            <a:r>
              <a:rPr sz="1250" b="0">
                <a:solidFill>
                  <a:srgbClr val="241A2E"/>
                </a:solidFill>
                <a:latin typeface="Arial"/>
              </a:rPr>
              <a:t> → history/trend → </a:t>
            </a:r>
            <a:r>
              <a:rPr sz="1250" b="1">
                <a:solidFill>
                  <a:srgbClr val="241A2E"/>
                </a:solidFill>
                <a:latin typeface="Arial"/>
              </a:rPr>
              <a:t>prediction</a:t>
            </a:r>
            <a:r>
              <a:rPr sz="1250" b="0">
                <a:solidFill>
                  <a:srgbClr val="241A2E"/>
                </a:solidFill>
                <a:latin typeface="Arial"/>
              </a:rPr>
              <a:t> → risk classification → </a:t>
            </a:r>
            <a:r>
              <a:rPr sz="1250" b="1">
                <a:solidFill>
                  <a:srgbClr val="241A2E"/>
                </a:solidFill>
                <a:latin typeface="Arial"/>
              </a:rPr>
              <a:t>automated case prioritisation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429768" y="4282007"/>
            <a:ext cx="5815584" cy="1069467"/>
          </a:xfrm>
          <a:prstGeom prst="rect">
            <a:avLst/>
          </a:prstGeom>
          <a:noFill/>
          <a:ln w="12700">
            <a:solidFill>
              <a:srgbClr val="8A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5" name="Picture 17414" descr="sih26094_workflow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996" y="1144501"/>
            <a:ext cx="5469236" cy="4973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-914400" y="2533653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300" b="1" dirty="0"/>
              <a:t>JAMMERZ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02920" y="1722121"/>
            <a:ext cx="5349240" cy="1550098"/>
          </a:xfrm>
          <a:prstGeom prst="rect">
            <a:avLst/>
          </a:prstGeom>
          <a:noFill/>
        </p:spPr>
        <p:txBody>
          <a:bodyPr wrap="square" lIns="101600" tIns="76200" rIns="101600" bIns="50800">
            <a:spAutoFit/>
          </a:bodyPr>
          <a:lstStyle/>
          <a:p>
            <a:pPr algn="l"/>
            <a:r>
              <a:rPr sz="1450" b="1">
                <a:solidFill>
                  <a:srgbClr val="5B2A80"/>
                </a:solidFill>
                <a:latin typeface="Arial"/>
              </a:rPr>
              <a:t>Feasibility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Mature, well-documented stack</a:t>
            </a:r>
            <a:r>
              <a:rPr sz="1150" b="0">
                <a:solidFill>
                  <a:srgbClr val="241A2E"/>
                </a:solidFill>
                <a:latin typeface="Arial"/>
              </a:rPr>
              <a:t> - React Native, Node, Supabase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Pretrained SER models available today</a:t>
            </a:r>
            <a:r>
              <a:rPr sz="1150" b="0">
                <a:solidFill>
                  <a:srgbClr val="241A2E"/>
                </a:solidFill>
                <a:latin typeface="Arial"/>
              </a:rPr>
              <a:t> - no training needed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Extends NHAA/SAMBAL + Tele-MANAS</a:t>
            </a:r>
            <a:r>
              <a:rPr sz="1150" b="0">
                <a:solidFill>
                  <a:srgbClr val="241A2E"/>
                </a:solidFill>
                <a:latin typeface="Arial"/>
              </a:rPr>
              <a:t> - not built from scratch</a:t>
            </a:r>
          </a:p>
          <a:p>
            <a:pPr lvl="1" algn="l">
              <a:spcBef>
                <a:spcPts val="500"/>
              </a:spcBef>
            </a:pPr>
            <a:r>
              <a:rPr sz="1150" b="0">
                <a:solidFill>
                  <a:srgbClr val="241A2E"/>
                </a:solidFill>
                <a:latin typeface="Arial"/>
              </a:rPr>
              <a:t>One codebase → </a:t>
            </a:r>
            <a:r>
              <a:rPr sz="1150" b="1">
                <a:solidFill>
                  <a:srgbClr val="241A2E"/>
                </a:solidFill>
                <a:latin typeface="Arial"/>
              </a:rPr>
              <a:t>feature parity by design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429768" y="1667257"/>
            <a:ext cx="5495544" cy="1659826"/>
          </a:xfrm>
          <a:prstGeom prst="rect">
            <a:avLst/>
          </a:prstGeom>
          <a:noFill/>
          <a:ln w="12700">
            <a:solidFill>
              <a:srgbClr val="8A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172200" y="1722121"/>
            <a:ext cx="5349240" cy="1550098"/>
          </a:xfrm>
          <a:prstGeom prst="rect">
            <a:avLst/>
          </a:prstGeom>
          <a:noFill/>
        </p:spPr>
        <p:txBody>
          <a:bodyPr wrap="square" lIns="101600" tIns="76200" rIns="101600" bIns="50800">
            <a:spAutoFit/>
          </a:bodyPr>
          <a:lstStyle/>
          <a:p>
            <a:pPr algn="l"/>
            <a:r>
              <a:rPr sz="1450" b="1">
                <a:solidFill>
                  <a:srgbClr val="5B2A80"/>
                </a:solidFill>
                <a:latin typeface="Arial"/>
              </a:rPr>
              <a:t>Challenges</a:t>
            </a:r>
          </a:p>
          <a:p>
            <a:pPr lvl="1" algn="l">
              <a:spcBef>
                <a:spcPts val="500"/>
              </a:spcBef>
            </a:pPr>
            <a:r>
              <a:rPr sz="1150" b="0">
                <a:solidFill>
                  <a:srgbClr val="241A2E"/>
                </a:solidFill>
                <a:latin typeface="Arial"/>
              </a:rPr>
              <a:t>No real victim data available (ethically/legally)</a:t>
            </a:r>
          </a:p>
          <a:p>
            <a:pPr lvl="1" algn="l">
              <a:spcBef>
                <a:spcPts val="500"/>
              </a:spcBef>
            </a:pPr>
            <a:r>
              <a:rPr sz="1150" b="0">
                <a:solidFill>
                  <a:srgbClr val="241A2E"/>
                </a:solidFill>
                <a:latin typeface="Arial"/>
              </a:rPr>
              <a:t>Voice-stress models trained on </a:t>
            </a:r>
            <a:r>
              <a:rPr sz="1150" b="1">
                <a:solidFill>
                  <a:srgbClr val="241A2E"/>
                </a:solidFill>
                <a:latin typeface="Arial"/>
              </a:rPr>
              <a:t>English</a:t>
            </a:r>
            <a:r>
              <a:rPr sz="1150" b="0">
                <a:solidFill>
                  <a:srgbClr val="241A2E"/>
                </a:solidFill>
                <a:latin typeface="Arial"/>
              </a:rPr>
              <a:t> - India-language gap</a:t>
            </a:r>
          </a:p>
          <a:p>
            <a:pPr lvl="1" algn="l">
              <a:spcBef>
                <a:spcPts val="500"/>
              </a:spcBef>
            </a:pPr>
            <a:r>
              <a:rPr sz="1150" b="0">
                <a:solidFill>
                  <a:srgbClr val="241A2E"/>
                </a:solidFill>
                <a:latin typeface="Arial"/>
              </a:rPr>
              <a:t>Highly sensitive data - </a:t>
            </a:r>
            <a:r>
              <a:rPr sz="1150" b="1">
                <a:solidFill>
                  <a:srgbClr val="241A2E"/>
                </a:solidFill>
                <a:latin typeface="Arial"/>
              </a:rPr>
              <a:t>privacy/security risk</a:t>
            </a:r>
          </a:p>
          <a:p>
            <a:pPr lvl="1" algn="l">
              <a:spcBef>
                <a:spcPts val="500"/>
              </a:spcBef>
            </a:pPr>
            <a:r>
              <a:rPr sz="1150" b="0">
                <a:solidFill>
                  <a:srgbClr val="241A2E"/>
                </a:solidFill>
                <a:latin typeface="Arial"/>
              </a:rPr>
              <a:t>False positive/negative risk in crisis prediction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099048" y="1667257"/>
            <a:ext cx="5495544" cy="1659826"/>
          </a:xfrm>
          <a:prstGeom prst="rect">
            <a:avLst/>
          </a:prstGeom>
          <a:noFill/>
          <a:ln w="12700">
            <a:solidFill>
              <a:srgbClr val="8A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3363678" y="3691102"/>
            <a:ext cx="5349240" cy="1275016"/>
          </a:xfrm>
          <a:prstGeom prst="rect">
            <a:avLst/>
          </a:prstGeom>
          <a:noFill/>
        </p:spPr>
        <p:txBody>
          <a:bodyPr wrap="square" lIns="101600" tIns="76200" rIns="101600" bIns="50800">
            <a:spAutoFit/>
          </a:bodyPr>
          <a:lstStyle/>
          <a:p>
            <a:pPr algn="l"/>
            <a:r>
              <a:rPr sz="1450" b="1">
                <a:solidFill>
                  <a:srgbClr val="5B2A80"/>
                </a:solidFill>
                <a:latin typeface="Arial"/>
              </a:rPr>
              <a:t>Strategies to Overcome</a:t>
            </a:r>
          </a:p>
          <a:p>
            <a:pPr lvl="1" algn="l">
              <a:spcBef>
                <a:spcPts val="500"/>
              </a:spcBef>
            </a:pPr>
            <a:r>
              <a:rPr sz="1150" b="0">
                <a:solidFill>
                  <a:srgbClr val="241A2E"/>
                </a:solidFill>
                <a:latin typeface="Arial"/>
              </a:rPr>
              <a:t>Validate on </a:t>
            </a:r>
            <a:r>
              <a:rPr sz="1150" b="1">
                <a:solidFill>
                  <a:srgbClr val="241A2E"/>
                </a:solidFill>
                <a:latin typeface="Arial"/>
              </a:rPr>
              <a:t>public datasets + synthetic personas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Human-in-the-loop</a:t>
            </a:r>
            <a:r>
              <a:rPr sz="1150" b="0">
                <a:solidFill>
                  <a:srgbClr val="241A2E"/>
                </a:solidFill>
                <a:latin typeface="Arial"/>
              </a:rPr>
              <a:t> - AI recommends, never auto-acts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DPDP-compliant architecture</a:t>
            </a:r>
            <a:r>
              <a:rPr sz="1150" b="0">
                <a:solidFill>
                  <a:srgbClr val="241A2E"/>
                </a:solidFill>
                <a:latin typeface="Arial"/>
              </a:rPr>
              <a:t> from day one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3290526" y="3636238"/>
            <a:ext cx="5495544" cy="1384744"/>
          </a:xfrm>
          <a:prstGeom prst="rect">
            <a:avLst/>
          </a:prstGeom>
          <a:noFill/>
          <a:ln w="12700">
            <a:solidFill>
              <a:srgbClr val="8A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-914400" y="2533653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300" b="1" dirty="0"/>
              <a:t>JAMMERZ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02920" y="2114006"/>
            <a:ext cx="5349240" cy="1550098"/>
          </a:xfrm>
          <a:prstGeom prst="rect">
            <a:avLst/>
          </a:prstGeom>
          <a:noFill/>
        </p:spPr>
        <p:txBody>
          <a:bodyPr wrap="square" lIns="101600" tIns="76200" rIns="101600" bIns="50800">
            <a:spAutoFit/>
          </a:bodyPr>
          <a:lstStyle/>
          <a:p>
            <a:pPr algn="l"/>
            <a:r>
              <a:rPr sz="1450" b="1">
                <a:solidFill>
                  <a:srgbClr val="5B2A80"/>
                </a:solidFill>
                <a:latin typeface="Arial"/>
              </a:rPr>
              <a:t>Impact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Closes the crisis-detection gap</a:t>
            </a:r>
            <a:r>
              <a:rPr sz="1150" b="0">
                <a:solidFill>
                  <a:srgbClr val="241A2E"/>
                </a:solidFill>
                <a:latin typeface="Arial"/>
              </a:rPr>
              <a:t> - flags distress weeks earlier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Strengthens victim trust</a:t>
            </a:r>
            <a:r>
              <a:rPr sz="1150" b="0">
                <a:solidFill>
                  <a:srgbClr val="241A2E"/>
                </a:solidFill>
                <a:latin typeface="Arial"/>
              </a:rPr>
              <a:t> in the justice system</a:t>
            </a:r>
          </a:p>
          <a:p>
            <a:pPr lvl="1" algn="l">
              <a:spcBef>
                <a:spcPts val="500"/>
              </a:spcBef>
            </a:pPr>
            <a:r>
              <a:rPr sz="1150" b="0">
                <a:solidFill>
                  <a:srgbClr val="241A2E"/>
                </a:solidFill>
                <a:latin typeface="Arial"/>
              </a:rPr>
              <a:t>Gives policymakers </a:t>
            </a:r>
            <a:r>
              <a:rPr sz="1150" b="1">
                <a:solidFill>
                  <a:srgbClr val="241A2E"/>
                </a:solidFill>
                <a:latin typeface="Arial"/>
              </a:rPr>
              <a:t>real visibility at scale</a:t>
            </a:r>
          </a:p>
          <a:p>
            <a:pPr lvl="1" algn="l">
              <a:spcBef>
                <a:spcPts val="500"/>
              </a:spcBef>
            </a:pPr>
            <a:r>
              <a:rPr sz="1150" b="0">
                <a:solidFill>
                  <a:srgbClr val="241A2E"/>
                </a:solidFill>
                <a:latin typeface="Arial"/>
              </a:rPr>
              <a:t>Improves welfare / counselling / law-enforcement </a:t>
            </a:r>
            <a:r>
              <a:rPr sz="1150" b="1">
                <a:solidFill>
                  <a:srgbClr val="241A2E"/>
                </a:solidFill>
                <a:latin typeface="Arial"/>
              </a:rPr>
              <a:t>coordination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429768" y="2059142"/>
            <a:ext cx="5495544" cy="1659826"/>
          </a:xfrm>
          <a:prstGeom prst="rect">
            <a:avLst/>
          </a:prstGeom>
          <a:noFill/>
          <a:ln w="12700">
            <a:solidFill>
              <a:srgbClr val="8A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172200" y="2114006"/>
            <a:ext cx="5349240" cy="1550098"/>
          </a:xfrm>
          <a:prstGeom prst="rect">
            <a:avLst/>
          </a:prstGeom>
          <a:noFill/>
        </p:spPr>
        <p:txBody>
          <a:bodyPr wrap="square" lIns="101600" tIns="76200" rIns="101600" bIns="50800">
            <a:spAutoFit/>
          </a:bodyPr>
          <a:lstStyle/>
          <a:p>
            <a:pPr algn="l"/>
            <a:r>
              <a:rPr sz="1450" b="1">
                <a:solidFill>
                  <a:srgbClr val="5B2A80"/>
                </a:solidFill>
                <a:latin typeface="Arial"/>
              </a:rPr>
              <a:t>Benefits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Victims:</a:t>
            </a:r>
            <a:r>
              <a:rPr sz="1150" b="0">
                <a:solidFill>
                  <a:srgbClr val="241A2E"/>
                </a:solidFill>
                <a:latin typeface="Arial"/>
              </a:rPr>
              <a:t> multilingual, voice-first - reaches rural/semi-literate users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Counsellors:</a:t>
            </a:r>
            <a:r>
              <a:rPr sz="1150" b="0">
                <a:solidFill>
                  <a:srgbClr val="241A2E"/>
                </a:solidFill>
                <a:latin typeface="Arial"/>
              </a:rPr>
              <a:t> automated prioritisation + AI case-note copilot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MoSJE:</a:t>
            </a:r>
            <a:r>
              <a:rPr sz="1150" b="0">
                <a:solidFill>
                  <a:srgbClr val="241A2E"/>
                </a:solidFill>
                <a:latin typeface="Arial"/>
              </a:rPr>
              <a:t> reuses existing infra - faster, cheaper rollout</a:t>
            </a:r>
          </a:p>
          <a:p>
            <a:pPr lvl="1" algn="l">
              <a:spcBef>
                <a:spcPts val="500"/>
              </a:spcBef>
            </a:pPr>
            <a:r>
              <a:rPr sz="1150" b="1">
                <a:solidFill>
                  <a:srgbClr val="241A2E"/>
                </a:solidFill>
                <a:latin typeface="Arial"/>
              </a:rPr>
              <a:t>Protects highly sensitive data</a:t>
            </a:r>
            <a:r>
              <a:rPr sz="1150" b="0">
                <a:solidFill>
                  <a:srgbClr val="241A2E"/>
                </a:solidFill>
                <a:latin typeface="Arial"/>
              </a:rPr>
              <a:t> by design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099048" y="2059142"/>
            <a:ext cx="5495544" cy="1659826"/>
          </a:xfrm>
          <a:prstGeom prst="rect">
            <a:avLst/>
          </a:prstGeom>
          <a:noFill/>
          <a:ln w="12700">
            <a:solidFill>
              <a:srgbClr val="8A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-914400" y="2795263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300" b="1" dirty="0"/>
              <a:t>JAMMERZ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02920" y="1972492"/>
            <a:ext cx="5349240" cy="1774698"/>
          </a:xfrm>
          <a:prstGeom prst="rect">
            <a:avLst/>
          </a:prstGeom>
          <a:noFill/>
        </p:spPr>
        <p:txBody>
          <a:bodyPr wrap="square" lIns="101600" tIns="76200" rIns="101600" bIns="50800">
            <a:spAutoFit/>
          </a:bodyPr>
          <a:lstStyle/>
          <a:p>
            <a:pPr algn="l"/>
            <a:r>
              <a:rPr sz="1400" b="1">
                <a:solidFill>
                  <a:srgbClr val="5B2A80"/>
                </a:solidFill>
                <a:latin typeface="Arial"/>
              </a:rPr>
              <a:t>Government Systems Referenced</a:t>
            </a:r>
          </a:p>
          <a:p>
            <a:pPr lvl="1" algn="l">
              <a:spcBef>
                <a:spcPts val="500"/>
              </a:spcBef>
            </a:pPr>
            <a:r>
              <a:rPr sz="1100" b="0">
                <a:solidFill>
                  <a:srgbClr val="241A2E"/>
                </a:solidFill>
                <a:latin typeface="Arial"/>
              </a:rPr>
              <a:t>PIB - 14566: National Helpline Against Atrocities - </a:t>
            </a:r>
            <a:r>
              <a:rPr sz="1100" b="1">
                <a:solidFill>
                  <a:srgbClr val="241A2E"/>
                </a:solidFill>
                <a:latin typeface="Arial"/>
              </a:rPr>
              <a:t>pib.gov.in</a:t>
            </a:r>
          </a:p>
          <a:p>
            <a:pPr lvl="1" algn="l">
              <a:spcBef>
                <a:spcPts val="500"/>
              </a:spcBef>
            </a:pPr>
            <a:r>
              <a:rPr sz="1100" b="0">
                <a:solidFill>
                  <a:srgbClr val="241A2E"/>
                </a:solidFill>
                <a:latin typeface="Arial"/>
              </a:rPr>
              <a:t>NHAA / SAMBAL portal - </a:t>
            </a:r>
            <a:r>
              <a:rPr sz="1100" b="1">
                <a:solidFill>
                  <a:srgbClr val="241A2E"/>
                </a:solidFill>
                <a:latin typeface="Arial"/>
              </a:rPr>
              <a:t>nhapoa.dosje.gov.in</a:t>
            </a:r>
          </a:p>
          <a:p>
            <a:pPr lvl="1" algn="l">
              <a:spcBef>
                <a:spcPts val="500"/>
              </a:spcBef>
            </a:pPr>
            <a:r>
              <a:rPr sz="1100" b="0">
                <a:solidFill>
                  <a:srgbClr val="241A2E"/>
                </a:solidFill>
                <a:latin typeface="Arial"/>
              </a:rPr>
              <a:t>Tele-MANAS official portal, MoHFW - </a:t>
            </a:r>
            <a:r>
              <a:rPr sz="1100" b="1">
                <a:solidFill>
                  <a:srgbClr val="241A2E"/>
                </a:solidFill>
                <a:latin typeface="Arial"/>
              </a:rPr>
              <a:t>telemanas.mohfw.gov.in</a:t>
            </a:r>
          </a:p>
          <a:p>
            <a:pPr lvl="1" algn="l">
              <a:spcBef>
                <a:spcPts val="500"/>
              </a:spcBef>
            </a:pPr>
            <a:r>
              <a:rPr sz="1100" b="0">
                <a:solidFill>
                  <a:srgbClr val="241A2E"/>
                </a:solidFill>
                <a:latin typeface="Arial"/>
              </a:rPr>
              <a:t>SC/ST (Prevention of Atrocities) Act, 1989 - </a:t>
            </a:r>
            <a:r>
              <a:rPr sz="1100" b="1">
                <a:solidFill>
                  <a:srgbClr val="241A2E"/>
                </a:solidFill>
                <a:latin typeface="Arial"/>
              </a:rPr>
              <a:t>ncsk.nic.in</a:t>
            </a:r>
          </a:p>
          <a:p>
            <a:pPr lvl="1" algn="l">
              <a:spcBef>
                <a:spcPts val="500"/>
              </a:spcBef>
            </a:pPr>
            <a:r>
              <a:rPr sz="1100" b="0">
                <a:solidFill>
                  <a:srgbClr val="241A2E"/>
                </a:solidFill>
                <a:latin typeface="Arial"/>
              </a:rPr>
              <a:t>Witness Protection Scheme, 2018 - IJLMH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429768" y="1917628"/>
            <a:ext cx="5495544" cy="2253234"/>
          </a:xfrm>
          <a:prstGeom prst="rect">
            <a:avLst/>
          </a:prstGeom>
          <a:noFill/>
          <a:ln w="12700">
            <a:solidFill>
              <a:srgbClr val="8A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172200" y="1972492"/>
            <a:ext cx="5349240" cy="2143506"/>
          </a:xfrm>
          <a:prstGeom prst="rect">
            <a:avLst/>
          </a:prstGeom>
          <a:noFill/>
        </p:spPr>
        <p:txBody>
          <a:bodyPr wrap="square" lIns="101600" tIns="76200" rIns="101600" bIns="50800">
            <a:spAutoFit/>
          </a:bodyPr>
          <a:lstStyle/>
          <a:p>
            <a:pPr algn="l"/>
            <a:r>
              <a:rPr sz="1400" b="1">
                <a:solidFill>
                  <a:srgbClr val="5B2A80"/>
                </a:solidFill>
                <a:latin typeface="Arial"/>
              </a:rPr>
              <a:t>Research and Case Studies</a:t>
            </a:r>
          </a:p>
          <a:p>
            <a:pPr lvl="1" algn="l">
              <a:spcBef>
                <a:spcPts val="500"/>
              </a:spcBef>
            </a:pPr>
            <a:r>
              <a:rPr sz="1100" b="0">
                <a:solidFill>
                  <a:srgbClr val="241A2E"/>
                </a:solidFill>
                <a:latin typeface="Arial"/>
              </a:rPr>
              <a:t>India's Tele-MANAS: evolution, early outcomes - </a:t>
            </a:r>
            <a:r>
              <a:rPr sz="1100" b="1">
                <a:solidFill>
                  <a:srgbClr val="241A2E"/>
                </a:solidFill>
                <a:latin typeface="Arial"/>
              </a:rPr>
              <a:t>BJPsych / Cambridge Core</a:t>
            </a:r>
          </a:p>
          <a:p>
            <a:pPr lvl="1" algn="l">
              <a:spcBef>
                <a:spcPts val="500"/>
              </a:spcBef>
            </a:pPr>
            <a:r>
              <a:rPr sz="1100" b="0">
                <a:solidFill>
                  <a:srgbClr val="241A2E"/>
                </a:solidFill>
                <a:latin typeface="Arial"/>
              </a:rPr>
              <a:t>Tele-MANAS callers turning to humans after AI falls short - </a:t>
            </a:r>
            <a:r>
              <a:rPr sz="1100" b="1">
                <a:solidFill>
                  <a:srgbClr val="241A2E"/>
                </a:solidFill>
                <a:latin typeface="Arial"/>
              </a:rPr>
              <a:t>Vision IAS / The Hindu</a:t>
            </a:r>
          </a:p>
          <a:p>
            <a:pPr lvl="1" algn="l">
              <a:spcBef>
                <a:spcPts val="500"/>
              </a:spcBef>
            </a:pPr>
            <a:r>
              <a:rPr sz="1100" b="0">
                <a:solidFill>
                  <a:srgbClr val="241A2E"/>
                </a:solidFill>
                <a:latin typeface="Arial"/>
              </a:rPr>
              <a:t>Speech Emotion Recognition in Mental Health: Systematic Review - </a:t>
            </a:r>
            <a:r>
              <a:rPr sz="1100" b="1">
                <a:solidFill>
                  <a:srgbClr val="241A2E"/>
                </a:solidFill>
                <a:latin typeface="Arial"/>
              </a:rPr>
              <a:t>JMIR, 2025</a:t>
            </a:r>
          </a:p>
          <a:p>
            <a:pPr lvl="1" algn="l">
              <a:spcBef>
                <a:spcPts val="500"/>
              </a:spcBef>
            </a:pPr>
            <a:r>
              <a:rPr sz="1100" b="0">
                <a:solidFill>
                  <a:srgbClr val="241A2E"/>
                </a:solidFill>
                <a:latin typeface="Arial"/>
              </a:rPr>
              <a:t>AI-Powered Holistic Mental Health Monitoring - </a:t>
            </a:r>
            <a:r>
              <a:rPr sz="1100" b="1">
                <a:solidFill>
                  <a:srgbClr val="241A2E"/>
                </a:solidFill>
                <a:latin typeface="Arial"/>
              </a:rPr>
              <a:t>ResearchGate, 2025</a:t>
            </a:r>
          </a:p>
          <a:p>
            <a:pPr lvl="1" algn="l">
              <a:spcBef>
                <a:spcPts val="500"/>
              </a:spcBef>
            </a:pPr>
            <a:r>
              <a:rPr sz="1100" b="0">
                <a:solidFill>
                  <a:srgbClr val="241A2E"/>
                </a:solidFill>
                <a:latin typeface="Arial"/>
              </a:rPr>
              <a:t>Crisis Text Line - Detecting Crisis: An AI Solution - </a:t>
            </a:r>
            <a:r>
              <a:rPr sz="1100" b="1">
                <a:solidFill>
                  <a:srgbClr val="241A2E"/>
                </a:solidFill>
                <a:latin typeface="Arial"/>
              </a:rPr>
              <a:t>~85-90%</a:t>
            </a:r>
            <a:r>
              <a:rPr sz="1100" b="0">
                <a:solidFill>
                  <a:srgbClr val="241A2E"/>
                </a:solidFill>
                <a:latin typeface="Arial"/>
              </a:rPr>
              <a:t> severe-risk detection from text alone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099048" y="1917628"/>
            <a:ext cx="5495544" cy="2253234"/>
          </a:xfrm>
          <a:prstGeom prst="rect">
            <a:avLst/>
          </a:prstGeom>
          <a:noFill/>
          <a:ln w="12700">
            <a:solidFill>
              <a:srgbClr val="8A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7498</TotalTime>
  <Words>638</Words>
  <Application>Microsoft Office PowerPoint</Application>
  <PresentationFormat>Widescreen</PresentationFormat>
  <Paragraphs>90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AI-Powered Mental Health Monitoring for Atrocity Victims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 Mehta</cp:lastModifiedBy>
  <cp:revision>149</cp:revision>
  <dcterms:created xsi:type="dcterms:W3CDTF">2013-12-12T18:46:50Z</dcterms:created>
  <dcterms:modified xsi:type="dcterms:W3CDTF">2026-08-24T07:17:02Z</dcterms:modified>
  <cp:category/>
</cp:coreProperties>
</file>